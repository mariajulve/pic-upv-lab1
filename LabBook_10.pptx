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0"/>
  </p:notesMasterIdLst>
  <p:handoutMasterIdLst>
    <p:handoutMasterId r:id="rId11"/>
  </p:handoutMasterIdLst>
  <p:sldIdLst>
    <p:sldId id="256" r:id="rId2"/>
    <p:sldId id="295" r:id="rId3"/>
    <p:sldId id="290" r:id="rId4"/>
    <p:sldId id="292" r:id="rId5"/>
    <p:sldId id="297" r:id="rId6"/>
    <p:sldId id="298" r:id="rId7"/>
    <p:sldId id="293" r:id="rId8"/>
    <p:sldId id="288" r:id="rId9"/>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p:scale>
          <a:sx n="66" d="100"/>
          <a:sy n="66" d="100"/>
        </p:scale>
        <p:origin x="38" y="360"/>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16/02/2026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16/02/2026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70.png"/><Relationship Id="rId7"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4.svg"/><Relationship Id="rId10" Type="http://schemas.openxmlformats.org/officeDocument/2006/relationships/image" Target="../media/image11.png"/><Relationship Id="rId4" Type="http://schemas.openxmlformats.org/officeDocument/2006/relationships/image" Target="../media/image3.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6" name="Rectángulo 5">
            <a:extLst>
              <a:ext uri="{FF2B5EF4-FFF2-40B4-BE49-F238E27FC236}">
                <a16:creationId xmlns:a16="http://schemas.microsoft.com/office/drawing/2014/main" id="{067C6D40-33EE-D9BE-7F58-8D96221D0D59}"/>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53A5ECC9-91D2-2918-1681-822F99EB31CD}"/>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C814CDD6-2B59-8488-4EB8-82801B4D3F22}"/>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determine above which grid value the effective index calculation does not change significantly</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Se </a:t>
            </a:r>
            <a:r>
              <a:rPr lang="en-US" sz="1200" dirty="0" err="1">
                <a:latin typeface="Arial" panose="020B0604020202020204" pitchFamily="34" charset="0"/>
                <a:cs typeface="Arial" panose="020B0604020202020204" pitchFamily="34" charset="0"/>
              </a:rPr>
              <a:t>observa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efectivo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constante</a:t>
            </a:r>
            <a:r>
              <a:rPr lang="en-US" sz="1200" dirty="0">
                <a:latin typeface="Arial" panose="020B0604020202020204" pitchFamily="34" charset="0"/>
                <a:cs typeface="Arial" panose="020B0604020202020204" pitchFamily="34" charset="0"/>
              </a:rPr>
              <a:t> es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un grid de 50 puntos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micra, y se </a:t>
            </a:r>
            <a:r>
              <a:rPr lang="en-US" sz="1200" dirty="0" err="1">
                <a:latin typeface="Arial" panose="020B0604020202020204" pitchFamily="34" charset="0"/>
                <a:cs typeface="Arial" panose="020B0604020202020204" pitchFamily="34" charset="0"/>
              </a:rPr>
              <a:t>estabiliza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un valor de 1.605 </a:t>
            </a:r>
            <a:r>
              <a:rPr lang="en-US" sz="1200" dirty="0" err="1">
                <a:latin typeface="Arial" panose="020B0604020202020204" pitchFamily="34" charset="0"/>
                <a:cs typeface="Arial" panose="020B0604020202020204" pitchFamily="34" charset="0"/>
              </a:rPr>
              <a:t>aproximadamente</a:t>
            </a:r>
            <a:r>
              <a:rPr lang="en-US" sz="1200"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Por </a:t>
            </a:r>
            <a:r>
              <a:rPr lang="en-US" sz="1200" dirty="0" err="1">
                <a:latin typeface="Arial" panose="020B0604020202020204" pitchFamily="34" charset="0"/>
                <a:cs typeface="Arial" panose="020B0604020202020204" pitchFamily="34" charset="0"/>
              </a:rPr>
              <a:t>otro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este</a:t>
            </a:r>
            <a:r>
              <a:rPr lang="en-US" sz="1200" dirty="0">
                <a:latin typeface="Arial" panose="020B0604020202020204" pitchFamily="34" charset="0"/>
                <a:cs typeface="Arial" panose="020B0604020202020204" pitchFamily="34" charset="0"/>
              </a:rPr>
              <a:t> valor de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consigue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tambien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grid resolution es de 20, se </a:t>
            </a:r>
            <a:r>
              <a:rPr lang="en-US" sz="1200" dirty="0" err="1">
                <a:latin typeface="Arial" panose="020B0604020202020204" pitchFamily="34" charset="0"/>
                <a:cs typeface="Arial" panose="020B0604020202020204" pitchFamily="34" charset="0"/>
              </a:rPr>
              <a:t>establece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max grid scaling se </a:t>
            </a:r>
            <a:r>
              <a:rPr lang="en-US" sz="1200" dirty="0" err="1">
                <a:latin typeface="Arial" panose="020B0604020202020204" pitchFamily="34" charset="0"/>
                <a:cs typeface="Arial" panose="020B0604020202020204" pitchFamily="34" charset="0"/>
              </a:rPr>
              <a:t>calcula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20. </a:t>
            </a:r>
          </a:p>
          <a:p>
            <a:pPr algn="just"/>
            <a:r>
              <a:rPr lang="en-US" sz="1200" dirty="0" err="1">
                <a:latin typeface="Arial" panose="020B0604020202020204" pitchFamily="34" charset="0"/>
                <a:cs typeface="Arial" panose="020B0604020202020204" pitchFamily="34" charset="0"/>
              </a:rPr>
              <a:t>Además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max grid scaling se </a:t>
            </a:r>
            <a:r>
              <a:rPr lang="en-US" sz="1200" dirty="0" err="1">
                <a:latin typeface="Arial" panose="020B0604020202020204" pitchFamily="34" charset="0"/>
                <a:cs typeface="Arial" panose="020B0604020202020204" pitchFamily="34" charset="0"/>
              </a:rPr>
              <a:t>empieza</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hacer</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constante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índice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partir</a:t>
            </a:r>
            <a:r>
              <a:rPr lang="en-US" sz="1200" dirty="0">
                <a:latin typeface="Arial" panose="020B0604020202020204" pitchFamily="34" charset="0"/>
                <a:cs typeface="Arial" panose="020B0604020202020204" pitchFamily="34" charset="0"/>
              </a:rPr>
              <a:t> de un max grid de 1.5.</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2" name="Rectángulo 1">
            <a:extLst>
              <a:ext uri="{FF2B5EF4-FFF2-40B4-BE49-F238E27FC236}">
                <a16:creationId xmlns:a16="http://schemas.microsoft.com/office/drawing/2014/main" id="{029F2FF9-FEB4-7AA3-B3B4-EFA9CFA0E230}"/>
              </a:ext>
            </a:extLst>
          </p:cNvPr>
          <p:cNvSpPr/>
          <p:nvPr/>
        </p:nvSpPr>
        <p:spPr>
          <a:xfrm>
            <a:off x="6322853"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C2C94B57-6111-4070-F6BA-8C3B9C305618}"/>
              </a:ext>
            </a:extLst>
          </p:cNvPr>
          <p:cNvSpPr txBox="1"/>
          <p:nvPr/>
        </p:nvSpPr>
        <p:spPr>
          <a:xfrm>
            <a:off x="6792815" y="2698951"/>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Imagen 6" descr="Gráfico, Gráfico de líneas&#10;&#10;El contenido generado por IA puede ser incorrecto.">
            <a:extLst>
              <a:ext uri="{FF2B5EF4-FFF2-40B4-BE49-F238E27FC236}">
                <a16:creationId xmlns:a16="http://schemas.microsoft.com/office/drawing/2014/main" id="{8BDC07C1-0522-B124-F628-B2B2A1425336}"/>
              </a:ext>
            </a:extLst>
          </p:cNvPr>
          <p:cNvPicPr>
            <a:picLocks noChangeAspect="1"/>
          </p:cNvPicPr>
          <p:nvPr/>
        </p:nvPicPr>
        <p:blipFill>
          <a:blip r:embed="rId5"/>
          <a:stretch>
            <a:fillRect/>
          </a:stretch>
        </p:blipFill>
        <p:spPr>
          <a:xfrm>
            <a:off x="570213" y="1688851"/>
            <a:ext cx="5639214" cy="3108228"/>
          </a:xfrm>
          <a:prstGeom prst="rect">
            <a:avLst/>
          </a:prstGeom>
        </p:spPr>
      </p:pic>
      <p:pic>
        <p:nvPicPr>
          <p:cNvPr id="11" name="Imagen 10" descr="Gráfico, Gráfico de líneas&#10;&#10;El contenido generado por IA puede ser incorrecto.">
            <a:extLst>
              <a:ext uri="{FF2B5EF4-FFF2-40B4-BE49-F238E27FC236}">
                <a16:creationId xmlns:a16="http://schemas.microsoft.com/office/drawing/2014/main" id="{BEA49D36-F261-4B37-A3B5-D8DED63956A7}"/>
              </a:ext>
            </a:extLst>
          </p:cNvPr>
          <p:cNvPicPr>
            <a:picLocks noChangeAspect="1"/>
          </p:cNvPicPr>
          <p:nvPr/>
        </p:nvPicPr>
        <p:blipFill>
          <a:blip r:embed="rId6"/>
          <a:stretch>
            <a:fillRect/>
          </a:stretch>
        </p:blipFill>
        <p:spPr>
          <a:xfrm>
            <a:off x="6322853" y="1476780"/>
            <a:ext cx="5486560" cy="3024088"/>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18771" y="507671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(neff changes this way with width, polarization behavior, </a:t>
            </a:r>
            <a:r>
              <a:rPr lang="en-US" sz="1200" dirty="0" err="1">
                <a:latin typeface="Arial" panose="020B0604020202020204" pitchFamily="34" charset="0"/>
                <a:cs typeface="Arial" panose="020B0604020202020204" pitchFamily="34" charset="0"/>
              </a:rPr>
              <a:t>etc</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67057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9" name="Imagen 8" descr="Gráfico, Gráfico de líneas&#10;&#10;El contenido generado por IA puede ser incorrecto.">
            <a:extLst>
              <a:ext uri="{FF2B5EF4-FFF2-40B4-BE49-F238E27FC236}">
                <a16:creationId xmlns:a16="http://schemas.microsoft.com/office/drawing/2014/main" id="{A7856FD2-B897-7AE4-D5F6-F034DAC6AF78}"/>
              </a:ext>
            </a:extLst>
          </p:cNvPr>
          <p:cNvPicPr>
            <a:picLocks noChangeAspect="1"/>
          </p:cNvPicPr>
          <p:nvPr/>
        </p:nvPicPr>
        <p:blipFill>
          <a:blip r:embed="rId5"/>
          <a:stretch>
            <a:fillRect/>
          </a:stretch>
        </p:blipFill>
        <p:spPr>
          <a:xfrm>
            <a:off x="572119" y="1214989"/>
            <a:ext cx="6527868" cy="3800152"/>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361911"/>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Find the second-degree polynomial coefficients and relate them with the group index and the dispersion parameter. </a:t>
                </a:r>
                <a14:m>
                  <m:oMath xmlns:m="http://schemas.openxmlformats.org/officeDocument/2006/math">
                    <m:d>
                      <m:dPr>
                        <m:begChr m:val="{"/>
                        <m:endChr m:val=""/>
                        <m:ctrlPr>
                          <a:rPr lang="es-ES" sz="1200" b="0" i="1" smtClean="0">
                            <a:latin typeface="Cambria Math" panose="02040503050406030204" pitchFamily="18" charset="0"/>
                            <a:cs typeface="Arial" panose="020B0604020202020204" pitchFamily="34" charset="0"/>
                          </a:rPr>
                        </m:ctrlPr>
                      </m:dPr>
                      <m:e>
                        <m:eqArr>
                          <m:eqArrPr>
                            <m:ctrlPr>
                              <a:rPr lang="es-ES" sz="1200" b="0" i="1" smtClean="0">
                                <a:latin typeface="Cambria Math" panose="02040503050406030204" pitchFamily="18" charset="0"/>
                                <a:cs typeface="Arial" panose="020B0604020202020204" pitchFamily="34" charset="0"/>
                              </a:rPr>
                            </m:ctrlPr>
                          </m:eqArrPr>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𝑒𝑓𝑓</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e>
                          <m:e>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𝑔</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1</m:t>
                                </m:r>
                              </m:sub>
                            </m:sSub>
                            <m:r>
                              <a:rPr lang="es-ES" sz="1200" b="0" i="1" smtClean="0">
                                <a:latin typeface="Cambria Math" panose="02040503050406030204" pitchFamily="18" charset="0"/>
                                <a:cs typeface="Arial" panose="020B0604020202020204" pitchFamily="34" charset="0"/>
                              </a:rPr>
                              <m:t>−</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2</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e>
                          <m:e>
                            <m:r>
                              <a:rPr lang="es-ES" sz="1200" b="0" i="1" smtClean="0">
                                <a:latin typeface="Cambria Math" panose="02040503050406030204" pitchFamily="18" charset="0"/>
                                <a:cs typeface="Arial" panose="020B0604020202020204" pitchFamily="34" charset="0"/>
                              </a:rPr>
                              <m:t>𝐷</m:t>
                            </m:r>
                            <m:r>
                              <a:rPr lang="es-ES" sz="1200" b="0" i="1" smtClean="0">
                                <a:latin typeface="Cambria Math" panose="02040503050406030204" pitchFamily="18" charset="0"/>
                                <a:cs typeface="Arial" panose="020B0604020202020204" pitchFamily="34" charset="0"/>
                              </a:rPr>
                              <m:t>=−</m:t>
                            </m:r>
                            <m:f>
                              <m:fPr>
                                <m:ctrlPr>
                                  <a:rPr lang="es-ES" sz="1200" b="0" i="1" smtClean="0">
                                    <a:latin typeface="Cambria Math" panose="02040503050406030204" pitchFamily="18" charset="0"/>
                                    <a:cs typeface="Arial" panose="020B0604020202020204" pitchFamily="34" charset="0"/>
                                  </a:rPr>
                                </m:ctrlPr>
                              </m:fPr>
                              <m:num>
                                <m:r>
                                  <a:rPr lang="es-ES" sz="1200" b="0" i="1" smtClean="0">
                                    <a:latin typeface="Cambria Math" panose="02040503050406030204" pitchFamily="18" charset="0"/>
                                    <a:cs typeface="Arial" panose="020B0604020202020204" pitchFamily="34" charset="0"/>
                                  </a:rPr>
                                  <m:t>2</m:t>
                                </m:r>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𝜆</m:t>
                                    </m:r>
                                  </m:e>
                                  <m:sub>
                                    <m:r>
                                      <a:rPr lang="es-ES" sz="1200" b="0" i="1" smtClean="0">
                                        <a:latin typeface="Cambria Math" panose="02040503050406030204" pitchFamily="18" charset="0"/>
                                        <a:cs typeface="Arial" panose="020B0604020202020204" pitchFamily="34" charset="0"/>
                                      </a:rPr>
                                      <m:t>0</m:t>
                                    </m:r>
                                  </m:sub>
                                </m:sSub>
                                <m:sSub>
                                  <m:sSubPr>
                                    <m:ctrlPr>
                                      <a:rPr lang="es-ES" sz="1200" b="0" i="1" smtClean="0">
                                        <a:latin typeface="Cambria Math" panose="02040503050406030204" pitchFamily="18" charset="0"/>
                                        <a:cs typeface="Arial" panose="020B0604020202020204" pitchFamily="34" charset="0"/>
                                      </a:rPr>
                                    </m:ctrlPr>
                                  </m:sSubPr>
                                  <m:e>
                                    <m:r>
                                      <a:rPr lang="es-ES" sz="1200" b="0" i="1" smtClean="0">
                                        <a:latin typeface="Cambria Math" panose="02040503050406030204" pitchFamily="18" charset="0"/>
                                        <a:cs typeface="Arial" panose="020B0604020202020204" pitchFamily="34" charset="0"/>
                                      </a:rPr>
                                      <m:t>𝑛</m:t>
                                    </m:r>
                                  </m:e>
                                  <m:sub>
                                    <m:r>
                                      <a:rPr lang="es-ES" sz="1200" b="0" i="1" smtClean="0">
                                        <a:latin typeface="Cambria Math" panose="02040503050406030204" pitchFamily="18" charset="0"/>
                                        <a:cs typeface="Arial" panose="020B0604020202020204" pitchFamily="34" charset="0"/>
                                      </a:rPr>
                                      <m:t>3</m:t>
                                    </m:r>
                                  </m:sub>
                                </m:sSub>
                              </m:num>
                              <m:den>
                                <m:r>
                                  <a:rPr lang="es-ES" sz="1200" b="0" i="1" smtClean="0">
                                    <a:latin typeface="Cambria Math" panose="02040503050406030204" pitchFamily="18" charset="0"/>
                                    <a:cs typeface="Arial" panose="020B0604020202020204" pitchFamily="34" charset="0"/>
                                  </a:rPr>
                                  <m:t>𝑐</m:t>
                                </m:r>
                              </m:den>
                            </m:f>
                            <m:d>
                              <m:dPr>
                                <m:begChr m:val="["/>
                                <m:endChr m:val="]"/>
                                <m:ctrlPr>
                                  <a:rPr lang="es-ES" sz="1200" b="0" i="1" smtClean="0">
                                    <a:latin typeface="Cambria Math" panose="02040503050406030204" pitchFamily="18" charset="0"/>
                                    <a:cs typeface="Arial" panose="020B0604020202020204" pitchFamily="34" charset="0"/>
                                  </a:rPr>
                                </m:ctrlPr>
                              </m:dPr>
                              <m:e>
                                <m:f>
                                  <m:fPr>
                                    <m:ctrlPr>
                                      <a:rPr lang="es-ES" sz="1200" b="0" i="1" smtClean="0">
                                        <a:latin typeface="Cambria Math" panose="02040503050406030204" pitchFamily="18" charset="0"/>
                                        <a:cs typeface="Arial" panose="020B0604020202020204" pitchFamily="34" charset="0"/>
                                      </a:rPr>
                                    </m:ctrlPr>
                                  </m:fPr>
                                  <m:num>
                                    <m:sSup>
                                      <m:sSupPr>
                                        <m:ctrlPr>
                                          <a:rPr lang="es-ES" sz="1200" b="0" i="1" smtClean="0">
                                            <a:latin typeface="Cambria Math" panose="02040503050406030204" pitchFamily="18" charset="0"/>
                                            <a:cs typeface="Arial" panose="020B0604020202020204" pitchFamily="34" charset="0"/>
                                          </a:rPr>
                                        </m:ctrlPr>
                                      </m:sSupPr>
                                      <m:e>
                                        <m:r>
                                          <a:rPr lang="es-ES" sz="1200" b="0" i="1" smtClean="0">
                                            <a:latin typeface="Cambria Math" panose="02040503050406030204" pitchFamily="18" charset="0"/>
                                            <a:cs typeface="Arial" panose="020B0604020202020204" pitchFamily="34" charset="0"/>
                                          </a:rPr>
                                          <m:t>𝑠</m:t>
                                        </m:r>
                                      </m:e>
                                      <m:sup>
                                        <m:r>
                                          <a:rPr lang="es-ES" sz="1200" b="0" i="1" smtClean="0">
                                            <a:latin typeface="Cambria Math" panose="02040503050406030204" pitchFamily="18" charset="0"/>
                                            <a:cs typeface="Arial" panose="020B0604020202020204" pitchFamily="34" charset="0"/>
                                          </a:rPr>
                                          <m:t>2</m:t>
                                        </m:r>
                                      </m:sup>
                                    </m:sSup>
                                  </m:num>
                                  <m:den>
                                    <m:r>
                                      <a:rPr lang="es-ES" sz="1200" b="0" i="1" smtClean="0">
                                        <a:latin typeface="Cambria Math" panose="02040503050406030204" pitchFamily="18" charset="0"/>
                                        <a:cs typeface="Arial" panose="020B0604020202020204" pitchFamily="34" charset="0"/>
                                      </a:rPr>
                                      <m:t>𝑚</m:t>
                                    </m:r>
                                  </m:den>
                                </m:f>
                              </m:e>
                            </m:d>
                          </m:e>
                        </m:eqArr>
                      </m:e>
                    </m:d>
                  </m:oMath>
                </a14:m>
                <a:endParaRPr lang="es-ES" sz="1200" b="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 </a:t>
                </a:r>
              </a:p>
              <a:p>
                <a:pPr algn="just"/>
                <a:r>
                  <a:rPr lang="en-US" sz="1200" dirty="0">
                    <a:latin typeface="Arial" panose="020B0604020202020204" pitchFamily="34" charset="0"/>
                    <a:cs typeface="Arial" panose="020B0604020202020204" pitchFamily="34" charset="0"/>
                  </a:rPr>
                  <a:t>Comment on the results found for the TE0 and TM0 for both deep and shallow waveguides.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1361911"/>
              </a:xfrm>
              <a:prstGeom prst="rect">
                <a:avLst/>
              </a:prstGeom>
              <a:blipFill>
                <a:blip r:embed="rId6"/>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200329"/>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b="1" dirty="0"/>
                  <a:t>neff_TE0 vs </a:t>
                </a:r>
                <a14:m>
                  <m:oMath xmlns:m="http://schemas.openxmlformats.org/officeDocument/2006/math">
                    <m:r>
                      <a:rPr lang="es-ES" b="1" i="1" smtClean="0">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200329"/>
              </a:xfrm>
              <a:prstGeom prst="rect">
                <a:avLst/>
              </a:prstGeom>
              <a:blipFill>
                <a:blip r:embed="rId7"/>
                <a:stretch>
                  <a:fillRect t="-2538" r="-556"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b="1" dirty="0"/>
                  <a:t>neff_TE0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a:p>
                <a:pPr algn="ctr"/>
                <a:r>
                  <a:rPr lang="en-US" dirty="0"/>
                  <a:t>&amp; </a:t>
                </a:r>
                <a:r>
                  <a:rPr lang="en-US" b="1" dirty="0"/>
                  <a:t>neff_TM0 vs </a:t>
                </a:r>
                <a14:m>
                  <m:oMath xmlns:m="http://schemas.openxmlformats.org/officeDocument/2006/math">
                    <m:r>
                      <a:rPr lang="es-ES" b="1" i="1">
                        <a:latin typeface="Cambria Math" panose="02040503050406030204" pitchFamily="18" charset="0"/>
                      </a:rPr>
                      <m:t>𝝀</m:t>
                    </m:r>
                  </m:oMath>
                </a14:m>
                <a:r>
                  <a:rPr lang="en-US" b="1" dirty="0"/>
                  <a:t> </a:t>
                </a:r>
                <a:r>
                  <a:rPr lang="en-US" dirty="0"/>
                  <a:t>with the second-degree polynomial fit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8"/>
                <a:stretch>
                  <a:fillRect t="-2538" r="-556"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7" name="Imagen 6">
            <a:extLst>
              <a:ext uri="{FF2B5EF4-FFF2-40B4-BE49-F238E27FC236}">
                <a16:creationId xmlns:a16="http://schemas.microsoft.com/office/drawing/2014/main" id="{6C067165-A5AA-538F-F2DD-C3A6B2982158}"/>
              </a:ext>
            </a:extLst>
          </p:cNvPr>
          <p:cNvPicPr>
            <a:picLocks noChangeAspect="1"/>
          </p:cNvPicPr>
          <p:nvPr/>
        </p:nvPicPr>
        <p:blipFill>
          <a:blip r:embed="rId9"/>
          <a:stretch>
            <a:fillRect/>
          </a:stretch>
        </p:blipFill>
        <p:spPr>
          <a:xfrm>
            <a:off x="715344" y="1480138"/>
            <a:ext cx="5228256" cy="3162523"/>
          </a:xfrm>
          <a:prstGeom prst="rect">
            <a:avLst/>
          </a:prstGeom>
        </p:spPr>
      </p:pic>
      <p:pic>
        <p:nvPicPr>
          <p:cNvPr id="12" name="Imagen 11" descr="Gráfico, Gráfico de líneas, Gráfico de dispersión&#10;&#10;El contenido generado por IA puede ser incorrecto.">
            <a:extLst>
              <a:ext uri="{FF2B5EF4-FFF2-40B4-BE49-F238E27FC236}">
                <a16:creationId xmlns:a16="http://schemas.microsoft.com/office/drawing/2014/main" id="{8BC74DA8-1A39-188A-9FA5-0293EF18F3DE}"/>
              </a:ext>
            </a:extLst>
          </p:cNvPr>
          <p:cNvPicPr>
            <a:picLocks noChangeAspect="1"/>
          </p:cNvPicPr>
          <p:nvPr/>
        </p:nvPicPr>
        <p:blipFill>
          <a:blip r:embed="rId10"/>
          <a:stretch>
            <a:fillRect/>
          </a:stretch>
        </p:blipFill>
        <p:spPr>
          <a:xfrm>
            <a:off x="6445054" y="1500833"/>
            <a:ext cx="5362926" cy="3243984"/>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F0FA8-1052-0CCE-50DD-F3044AFD23E3}"/>
              </a:ext>
            </a:extLst>
          </p:cNvPr>
          <p:cNvSpPr>
            <a:spLocks noGrp="1"/>
          </p:cNvSpPr>
          <p:nvPr>
            <p:ph type="title"/>
          </p:nvPr>
        </p:nvSpPr>
        <p:spPr/>
        <p:txBody>
          <a:bodyPr/>
          <a:lstStyle/>
          <a:p>
            <a:r>
              <a:rPr lang="es-ES" dirty="0"/>
              <a:t>COMENTARIO LO3</a:t>
            </a:r>
          </a:p>
        </p:txBody>
      </p:sp>
      <p:sp>
        <p:nvSpPr>
          <p:cNvPr id="3" name="Marcador de texto 2">
            <a:extLst>
              <a:ext uri="{FF2B5EF4-FFF2-40B4-BE49-F238E27FC236}">
                <a16:creationId xmlns:a16="http://schemas.microsoft.com/office/drawing/2014/main" id="{D469A6F2-72A0-9CDA-86DD-6482FB92E931}"/>
              </a:ext>
            </a:extLst>
          </p:cNvPr>
          <p:cNvSpPr>
            <a:spLocks noGrp="1"/>
          </p:cNvSpPr>
          <p:nvPr>
            <p:ph type="body" idx="1"/>
          </p:nvPr>
        </p:nvSpPr>
        <p:spPr>
          <a:xfrm>
            <a:off x="587440" y="685800"/>
            <a:ext cx="10972800" cy="276999"/>
          </a:xfrm>
        </p:spPr>
        <p:txBody>
          <a:bodyPr/>
          <a:lstStyle/>
          <a:p>
            <a:r>
              <a:rPr lang="es-ES" b="1" dirty="0"/>
              <a:t>Deep WG</a:t>
            </a:r>
          </a:p>
        </p:txBody>
      </p:sp>
      <p:sp>
        <p:nvSpPr>
          <p:cNvPr id="4" name="Marcador de pie de página 3">
            <a:extLst>
              <a:ext uri="{FF2B5EF4-FFF2-40B4-BE49-F238E27FC236}">
                <a16:creationId xmlns:a16="http://schemas.microsoft.com/office/drawing/2014/main" id="{69B7A767-456C-1F92-2652-92468EA87F4E}"/>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D515ED68-F96F-47DF-5A3D-3C62750DE38F}"/>
              </a:ext>
            </a:extLst>
          </p:cNvPr>
          <p:cNvSpPr>
            <a:spLocks noGrp="1"/>
          </p:cNvSpPr>
          <p:nvPr>
            <p:ph type="sldNum" sz="quarter" idx="7"/>
          </p:nvPr>
        </p:nvSpPr>
        <p:spPr/>
        <p:txBody>
          <a:bodyPr/>
          <a:lstStyle/>
          <a:p>
            <a:fld id="{B6F15528-21DE-4FAA-801E-634DDDAF4B2B}" type="slidenum">
              <a:rPr lang="es-ES" smtClean="0"/>
              <a:t>6</a:t>
            </a:fld>
            <a:endParaRPr lang="es-ES"/>
          </a:p>
        </p:txBody>
      </p:sp>
      <p:pic>
        <p:nvPicPr>
          <p:cNvPr id="6" name="Imagen 5">
            <a:extLst>
              <a:ext uri="{FF2B5EF4-FFF2-40B4-BE49-F238E27FC236}">
                <a16:creationId xmlns:a16="http://schemas.microsoft.com/office/drawing/2014/main" id="{5F3EE6DF-AC57-4F75-690D-92FB1AE9DAFD}"/>
              </a:ext>
            </a:extLst>
          </p:cNvPr>
          <p:cNvPicPr>
            <a:picLocks noChangeAspect="1"/>
          </p:cNvPicPr>
          <p:nvPr/>
        </p:nvPicPr>
        <p:blipFill>
          <a:blip r:embed="rId2"/>
          <a:stretch>
            <a:fillRect/>
          </a:stretch>
        </p:blipFill>
        <p:spPr>
          <a:xfrm>
            <a:off x="609600" y="1055595"/>
            <a:ext cx="3303426" cy="1998211"/>
          </a:xfrm>
          <a:prstGeom prst="rect">
            <a:avLst/>
          </a:prstGeom>
        </p:spPr>
      </p:pic>
      <p:pic>
        <p:nvPicPr>
          <p:cNvPr id="8" name="Imagen 7" descr="Texto&#10;&#10;El contenido generado por IA puede ser incorrecto.">
            <a:extLst>
              <a:ext uri="{FF2B5EF4-FFF2-40B4-BE49-F238E27FC236}">
                <a16:creationId xmlns:a16="http://schemas.microsoft.com/office/drawing/2014/main" id="{80F091C1-B645-AFD3-1B47-DADBF1CD1CE9}"/>
              </a:ext>
            </a:extLst>
          </p:cNvPr>
          <p:cNvPicPr>
            <a:picLocks noChangeAspect="1"/>
          </p:cNvPicPr>
          <p:nvPr/>
        </p:nvPicPr>
        <p:blipFill>
          <a:blip r:embed="rId3"/>
          <a:stretch>
            <a:fillRect/>
          </a:stretch>
        </p:blipFill>
        <p:spPr>
          <a:xfrm>
            <a:off x="4191000" y="1167833"/>
            <a:ext cx="3390894" cy="903771"/>
          </a:xfrm>
          <a:prstGeom prst="rect">
            <a:avLst/>
          </a:prstGeom>
        </p:spPr>
      </p:pic>
      <p:pic>
        <p:nvPicPr>
          <p:cNvPr id="9" name="Imagen 8" descr="Gráfico, Gráfico de líneas, Gráfico de dispersión&#10;&#10;El contenido generado por IA puede ser incorrecto.">
            <a:extLst>
              <a:ext uri="{FF2B5EF4-FFF2-40B4-BE49-F238E27FC236}">
                <a16:creationId xmlns:a16="http://schemas.microsoft.com/office/drawing/2014/main" id="{CC7E137D-D49B-FFD6-D88D-778D928B4B16}"/>
              </a:ext>
            </a:extLst>
          </p:cNvPr>
          <p:cNvPicPr>
            <a:picLocks noChangeAspect="1"/>
          </p:cNvPicPr>
          <p:nvPr/>
        </p:nvPicPr>
        <p:blipFill>
          <a:blip r:embed="rId4"/>
          <a:stretch>
            <a:fillRect/>
          </a:stretch>
        </p:blipFill>
        <p:spPr>
          <a:xfrm>
            <a:off x="7854081" y="1134070"/>
            <a:ext cx="3505200" cy="2120263"/>
          </a:xfrm>
          <a:prstGeom prst="rect">
            <a:avLst/>
          </a:prstGeom>
        </p:spPr>
      </p:pic>
      <p:sp>
        <p:nvSpPr>
          <p:cNvPr id="11" name="CuadroTexto 10">
            <a:extLst>
              <a:ext uri="{FF2B5EF4-FFF2-40B4-BE49-F238E27FC236}">
                <a16:creationId xmlns:a16="http://schemas.microsoft.com/office/drawing/2014/main" id="{4A5FB238-D549-67B5-F32A-064CF97B80C8}"/>
              </a:ext>
            </a:extLst>
          </p:cNvPr>
          <p:cNvSpPr txBox="1"/>
          <p:nvPr/>
        </p:nvSpPr>
        <p:spPr>
          <a:xfrm>
            <a:off x="7888805" y="711843"/>
            <a:ext cx="6125546" cy="369332"/>
          </a:xfrm>
          <a:prstGeom prst="rect">
            <a:avLst/>
          </a:prstGeom>
          <a:noFill/>
        </p:spPr>
        <p:txBody>
          <a:bodyPr wrap="square">
            <a:spAutoFit/>
          </a:bodyPr>
          <a:lstStyle/>
          <a:p>
            <a:r>
              <a:rPr lang="es-ES" b="1" dirty="0" err="1"/>
              <a:t>Shallow</a:t>
            </a:r>
            <a:r>
              <a:rPr lang="es-ES" b="1" dirty="0"/>
              <a:t> WG</a:t>
            </a:r>
          </a:p>
        </p:txBody>
      </p:sp>
      <p:pic>
        <p:nvPicPr>
          <p:cNvPr id="13" name="Imagen 12" descr="Una captura de pantalla de un celular&#10;&#10;El contenido generado por IA puede ser incorrecto.">
            <a:extLst>
              <a:ext uri="{FF2B5EF4-FFF2-40B4-BE49-F238E27FC236}">
                <a16:creationId xmlns:a16="http://schemas.microsoft.com/office/drawing/2014/main" id="{A22AD0AD-69C2-CBE2-46FF-01702E07FC86}"/>
              </a:ext>
            </a:extLst>
          </p:cNvPr>
          <p:cNvPicPr>
            <a:picLocks noChangeAspect="1"/>
          </p:cNvPicPr>
          <p:nvPr/>
        </p:nvPicPr>
        <p:blipFill>
          <a:blip r:embed="rId5"/>
          <a:stretch>
            <a:fillRect/>
          </a:stretch>
        </p:blipFill>
        <p:spPr>
          <a:xfrm>
            <a:off x="4191000" y="2235487"/>
            <a:ext cx="3390894" cy="851362"/>
          </a:xfrm>
          <a:prstGeom prst="rect">
            <a:avLst/>
          </a:prstGeom>
        </p:spPr>
      </p:pic>
      <p:sp>
        <p:nvSpPr>
          <p:cNvPr id="23" name="Marcador de texto 2">
            <a:extLst>
              <a:ext uri="{FF2B5EF4-FFF2-40B4-BE49-F238E27FC236}">
                <a16:creationId xmlns:a16="http://schemas.microsoft.com/office/drawing/2014/main" id="{6CB3DA00-6176-B95A-985F-BDAD9019EC19}"/>
              </a:ext>
            </a:extLst>
          </p:cNvPr>
          <p:cNvSpPr txBox="1">
            <a:spLocks/>
          </p:cNvSpPr>
          <p:nvPr/>
        </p:nvSpPr>
        <p:spPr>
          <a:xfrm>
            <a:off x="396074" y="3425142"/>
            <a:ext cx="6553365" cy="2800767"/>
          </a:xfrm>
          <a:prstGeom prst="rect">
            <a:avLst/>
          </a:prstGeom>
        </p:spPr>
        <p:txBody>
          <a:bodyPr wrap="square" lIns="0" tIns="0" rIns="0" bIns="0">
            <a:sp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s-ES" sz="1400" kern="0" dirty="0">
                <a:solidFill>
                  <a:sysClr val="windowText" lastClr="000000"/>
                </a:solidFill>
              </a:rPr>
              <a:t>En las </a:t>
            </a:r>
            <a:r>
              <a:rPr lang="es-ES" sz="1400" kern="0" dirty="0" err="1">
                <a:solidFill>
                  <a:sysClr val="windowText" lastClr="000000"/>
                </a:solidFill>
              </a:rPr>
              <a:t>guias</a:t>
            </a:r>
            <a:r>
              <a:rPr lang="es-ES" sz="1400" kern="0" dirty="0">
                <a:solidFill>
                  <a:sysClr val="windowText" lastClr="000000"/>
                </a:solidFill>
              </a:rPr>
              <a:t> Deep, los índices de grupo son ligeramente superiores a las </a:t>
            </a:r>
            <a:r>
              <a:rPr lang="es-ES" sz="1400" kern="0" dirty="0" err="1">
                <a:solidFill>
                  <a:sysClr val="windowText" lastClr="000000"/>
                </a:solidFill>
              </a:rPr>
              <a:t>Shallow</a:t>
            </a:r>
            <a:r>
              <a:rPr lang="es-ES" sz="1400" kern="0" dirty="0">
                <a:solidFill>
                  <a:sysClr val="windowText" lastClr="000000"/>
                </a:solidFill>
              </a:rPr>
              <a:t> en los dos modos. Esto es porque en las </a:t>
            </a:r>
            <a:r>
              <a:rPr lang="es-ES" sz="1400" kern="0" dirty="0" err="1">
                <a:solidFill>
                  <a:sysClr val="windowText" lastClr="000000"/>
                </a:solidFill>
              </a:rPr>
              <a:t>guias</a:t>
            </a:r>
            <a:r>
              <a:rPr lang="es-ES" sz="1400" kern="0" dirty="0">
                <a:solidFill>
                  <a:sysClr val="windowText" lastClr="000000"/>
                </a:solidFill>
              </a:rPr>
              <a:t> Deep hay un mayor confinamiento en el núcleo de nitruro de silicio al estar las paredes laterales totalmente grabadas. Por otro lado, en ambos tipos de guía, en los modos TE hay un mayor índice de grupo. Esto es porque el modo TE viaja mas lento debido a una mayor interacción con la geometría del núcleo.</a:t>
            </a:r>
          </a:p>
          <a:p>
            <a:endParaRPr lang="es-ES" sz="1400" kern="0" dirty="0">
              <a:solidFill>
                <a:sysClr val="windowText" lastClr="000000"/>
              </a:solidFill>
            </a:endParaRPr>
          </a:p>
          <a:p>
            <a:r>
              <a:rPr lang="es-ES" sz="1400" kern="0" dirty="0">
                <a:solidFill>
                  <a:sysClr val="windowText" lastClr="000000"/>
                </a:solidFill>
              </a:rPr>
              <a:t>En cuanto a la dispersión, la guía Deep tiene una D más negativa que la </a:t>
            </a:r>
            <a:r>
              <a:rPr lang="es-ES" sz="1400" kern="0" dirty="0" err="1">
                <a:solidFill>
                  <a:sysClr val="windowText" lastClr="000000"/>
                </a:solidFill>
              </a:rPr>
              <a:t>shallow</a:t>
            </a:r>
            <a:r>
              <a:rPr lang="es-ES" sz="1400" kern="0" dirty="0">
                <a:solidFill>
                  <a:sysClr val="windowText" lastClr="000000"/>
                </a:solidFill>
              </a:rPr>
              <a:t>, esto es porque el grabado total de las paredes laterales de la guía Deep hace que aumente la dispersión geométrica, y como consecuencia aumenta la dispersión.</a:t>
            </a:r>
          </a:p>
          <a:p>
            <a:endParaRPr lang="es-ES" sz="1400" kern="0" dirty="0">
              <a:solidFill>
                <a:sysClr val="windowText" lastClr="000000"/>
              </a:solidFill>
            </a:endParaRPr>
          </a:p>
          <a:p>
            <a:r>
              <a:rPr lang="es-ES" sz="1400" kern="0" dirty="0">
                <a:solidFill>
                  <a:sysClr val="windowText" lastClr="000000"/>
                </a:solidFill>
              </a:rPr>
              <a:t>La guía </a:t>
            </a:r>
            <a:r>
              <a:rPr lang="es-ES" sz="1400" kern="0" dirty="0" err="1">
                <a:solidFill>
                  <a:sysClr val="windowText" lastClr="000000"/>
                </a:solidFill>
              </a:rPr>
              <a:t>Shallow</a:t>
            </a:r>
            <a:r>
              <a:rPr lang="es-ES" sz="1400" kern="0" dirty="0">
                <a:solidFill>
                  <a:sysClr val="windowText" lastClr="000000"/>
                </a:solidFill>
              </a:rPr>
              <a:t>, como tiene el </a:t>
            </a:r>
            <a:r>
              <a:rPr lang="es-ES" sz="1400" kern="0" dirty="0" err="1">
                <a:solidFill>
                  <a:sysClr val="windowText" lastClr="000000"/>
                </a:solidFill>
              </a:rPr>
              <a:t>slab</a:t>
            </a:r>
            <a:r>
              <a:rPr lang="es-ES" sz="1400" kern="0" dirty="0">
                <a:solidFill>
                  <a:sysClr val="windowText" lastClr="000000"/>
                </a:solidFill>
              </a:rPr>
              <a:t>, tiene una dispersión un poco mas pequeña. Esto es porque el </a:t>
            </a:r>
            <a:r>
              <a:rPr lang="es-ES" sz="1400" kern="0" dirty="0" err="1">
                <a:solidFill>
                  <a:sysClr val="windowText" lastClr="000000"/>
                </a:solidFill>
              </a:rPr>
              <a:t>slab</a:t>
            </a:r>
            <a:r>
              <a:rPr lang="es-ES" sz="1400" kern="0" dirty="0">
                <a:solidFill>
                  <a:sysClr val="windowText" lastClr="000000"/>
                </a:solidFill>
              </a:rPr>
              <a:t> hace que parte del campo se extienda lateralmente. Como consecuencia, la </a:t>
            </a:r>
            <a:r>
              <a:rPr lang="es-ES" sz="1400" kern="0" dirty="0" err="1">
                <a:solidFill>
                  <a:sysClr val="windowText" lastClr="000000"/>
                </a:solidFill>
              </a:rPr>
              <a:t>variacion</a:t>
            </a:r>
            <a:r>
              <a:rPr lang="es-ES" sz="1400" kern="0" dirty="0">
                <a:solidFill>
                  <a:sysClr val="windowText" lastClr="000000"/>
                </a:solidFill>
              </a:rPr>
              <a:t> de índice efectivo se suaviza con la longitud de onda.</a:t>
            </a:r>
          </a:p>
        </p:txBody>
      </p:sp>
      <p:graphicFrame>
        <p:nvGraphicFramePr>
          <p:cNvPr id="24" name="Tabla 23">
            <a:extLst>
              <a:ext uri="{FF2B5EF4-FFF2-40B4-BE49-F238E27FC236}">
                <a16:creationId xmlns:a16="http://schemas.microsoft.com/office/drawing/2014/main" id="{36B65CC6-CABA-B3A5-874A-6B2A20A4DF61}"/>
              </a:ext>
            </a:extLst>
          </p:cNvPr>
          <p:cNvGraphicFramePr>
            <a:graphicFrameLocks noGrp="1"/>
          </p:cNvGraphicFramePr>
          <p:nvPr>
            <p:extLst>
              <p:ext uri="{D42A27DB-BD31-4B8C-83A1-F6EECF244321}">
                <p14:modId xmlns:p14="http://schemas.microsoft.com/office/powerpoint/2010/main" val="1238578667"/>
              </p:ext>
            </p:extLst>
          </p:nvPr>
        </p:nvGraphicFramePr>
        <p:xfrm>
          <a:off x="7162800" y="3301440"/>
          <a:ext cx="4739639" cy="3494446"/>
        </p:xfrm>
        <a:graphic>
          <a:graphicData uri="http://schemas.openxmlformats.org/drawingml/2006/table">
            <a:tbl>
              <a:tblPr firstRow="1" bandRow="1">
                <a:tableStyleId>{5C22544A-7EE6-4342-B048-85BDC9FD1C3A}</a:tableStyleId>
              </a:tblPr>
              <a:tblGrid>
                <a:gridCol w="1295400">
                  <a:extLst>
                    <a:ext uri="{9D8B030D-6E8A-4147-A177-3AD203B41FA5}">
                      <a16:colId xmlns:a16="http://schemas.microsoft.com/office/drawing/2014/main" val="1768499776"/>
                    </a:ext>
                  </a:extLst>
                </a:gridCol>
                <a:gridCol w="1752600">
                  <a:extLst>
                    <a:ext uri="{9D8B030D-6E8A-4147-A177-3AD203B41FA5}">
                      <a16:colId xmlns:a16="http://schemas.microsoft.com/office/drawing/2014/main" val="1118619719"/>
                    </a:ext>
                  </a:extLst>
                </a:gridCol>
                <a:gridCol w="1691639">
                  <a:extLst>
                    <a:ext uri="{9D8B030D-6E8A-4147-A177-3AD203B41FA5}">
                      <a16:colId xmlns:a16="http://schemas.microsoft.com/office/drawing/2014/main" val="2277682712"/>
                    </a:ext>
                  </a:extLst>
                </a:gridCol>
              </a:tblGrid>
              <a:tr h="353689">
                <a:tc>
                  <a:txBody>
                    <a:bodyPr/>
                    <a:lstStyle/>
                    <a:p>
                      <a:r>
                        <a:rPr lang="es-ES" sz="1400" dirty="0"/>
                        <a:t>Característica</a:t>
                      </a:r>
                    </a:p>
                  </a:txBody>
                  <a:tcPr/>
                </a:tc>
                <a:tc>
                  <a:txBody>
                    <a:bodyPr/>
                    <a:lstStyle/>
                    <a:p>
                      <a:r>
                        <a:rPr lang="es-ES" sz="1400" dirty="0"/>
                        <a:t>Deep WG</a:t>
                      </a:r>
                    </a:p>
                  </a:txBody>
                  <a:tcPr/>
                </a:tc>
                <a:tc>
                  <a:txBody>
                    <a:bodyPr/>
                    <a:lstStyle/>
                    <a:p>
                      <a:r>
                        <a:rPr lang="es-ES" sz="1400" dirty="0" err="1"/>
                        <a:t>Shallow</a:t>
                      </a:r>
                      <a:r>
                        <a:rPr lang="es-ES" sz="1400" dirty="0"/>
                        <a:t> WG</a:t>
                      </a:r>
                    </a:p>
                  </a:txBody>
                  <a:tcPr/>
                </a:tc>
                <a:extLst>
                  <a:ext uri="{0D108BD9-81ED-4DB2-BD59-A6C34878D82A}">
                    <a16:rowId xmlns:a16="http://schemas.microsoft.com/office/drawing/2014/main" val="3459151985"/>
                  </a:ext>
                </a:extLst>
              </a:tr>
              <a:tr h="610917">
                <a:tc>
                  <a:txBody>
                    <a:bodyPr/>
                    <a:lstStyle/>
                    <a:p>
                      <a:r>
                        <a:rPr lang="es-ES" sz="1400" dirty="0"/>
                        <a:t>Confinamiento</a:t>
                      </a:r>
                    </a:p>
                  </a:txBody>
                  <a:tcPr/>
                </a:tc>
                <a:tc>
                  <a:txBody>
                    <a:bodyPr/>
                    <a:lstStyle/>
                    <a:p>
                      <a:r>
                        <a:rPr lang="es-ES" sz="1400" dirty="0"/>
                        <a:t>Mayor (paredes totalmente grabadas</a:t>
                      </a:r>
                    </a:p>
                  </a:txBody>
                  <a:tcPr/>
                </a:tc>
                <a:tc>
                  <a:txBody>
                    <a:bodyPr/>
                    <a:lstStyle/>
                    <a:p>
                      <a:r>
                        <a:rPr lang="es-ES" sz="1400" dirty="0"/>
                        <a:t>Menor (</a:t>
                      </a:r>
                      <a:r>
                        <a:rPr lang="es-ES" sz="1400" dirty="0" err="1"/>
                        <a:t>slab</a:t>
                      </a:r>
                      <a:r>
                        <a:rPr lang="es-ES" sz="1400" dirty="0"/>
                        <a:t> lateral)</a:t>
                      </a:r>
                    </a:p>
                  </a:txBody>
                  <a:tcPr/>
                </a:tc>
                <a:extLst>
                  <a:ext uri="{0D108BD9-81ED-4DB2-BD59-A6C34878D82A}">
                    <a16:rowId xmlns:a16="http://schemas.microsoft.com/office/drawing/2014/main" val="4223973807"/>
                  </a:ext>
                </a:extLst>
              </a:tr>
              <a:tr h="868145">
                <a:tc>
                  <a:txBody>
                    <a:bodyPr/>
                    <a:lstStyle/>
                    <a:p>
                      <a:r>
                        <a:rPr lang="es-ES" sz="1400" dirty="0" err="1"/>
                        <a:t>Indice</a:t>
                      </a:r>
                      <a:r>
                        <a:rPr lang="es-ES" sz="1400" dirty="0"/>
                        <a:t> de grupo</a:t>
                      </a:r>
                    </a:p>
                  </a:txBody>
                  <a:tcPr/>
                </a:tc>
                <a:tc>
                  <a:txBody>
                    <a:bodyPr/>
                    <a:lstStyle/>
                    <a:p>
                      <a:r>
                        <a:rPr lang="es-ES" sz="1400" dirty="0"/>
                        <a:t>Mayor: al estar mas confinada, la luz actúa mas con el </a:t>
                      </a:r>
                      <a:r>
                        <a:rPr lang="es-ES" sz="1400" dirty="0" err="1"/>
                        <a:t>mat.</a:t>
                      </a:r>
                      <a:r>
                        <a:rPr lang="es-ES" sz="1400" dirty="0"/>
                        <a:t> de alto índice por lo que va mas lento.</a:t>
                      </a:r>
                    </a:p>
                  </a:txBody>
                  <a:tcPr/>
                </a:tc>
                <a:tc>
                  <a:txBody>
                    <a:bodyPr/>
                    <a:lstStyle/>
                    <a:p>
                      <a:r>
                        <a:rPr lang="es-ES" sz="1400" dirty="0"/>
                        <a:t>Menor: el campo se extiende mas hacia las zonas laterales</a:t>
                      </a:r>
                    </a:p>
                  </a:txBody>
                  <a:tcPr/>
                </a:tc>
                <a:extLst>
                  <a:ext uri="{0D108BD9-81ED-4DB2-BD59-A6C34878D82A}">
                    <a16:rowId xmlns:a16="http://schemas.microsoft.com/office/drawing/2014/main" val="1707974440"/>
                  </a:ext>
                </a:extLst>
              </a:tr>
              <a:tr h="1125373">
                <a:tc>
                  <a:txBody>
                    <a:bodyPr/>
                    <a:lstStyle/>
                    <a:p>
                      <a:r>
                        <a:rPr lang="es-ES" sz="1400" dirty="0" err="1"/>
                        <a:t>Dispersion</a:t>
                      </a:r>
                      <a:endParaRPr lang="es-ES" sz="1400" dirty="0"/>
                    </a:p>
                  </a:txBody>
                  <a:tcPr/>
                </a:tc>
                <a:tc>
                  <a:txBody>
                    <a:bodyPr/>
                    <a:lstStyle/>
                    <a:p>
                      <a:r>
                        <a:rPr lang="es-ES" sz="1400" dirty="0"/>
                        <a:t>Más negativa: domina la dispersión geométrica por el cambio abrupto en las paredes</a:t>
                      </a:r>
                    </a:p>
                  </a:txBody>
                  <a:tcPr/>
                </a:tc>
                <a:tc>
                  <a:txBody>
                    <a:bodyPr/>
                    <a:lstStyle/>
                    <a:p>
                      <a:r>
                        <a:rPr lang="es-ES" sz="1400" dirty="0"/>
                        <a:t>Menos negativa: el </a:t>
                      </a:r>
                      <a:r>
                        <a:rPr lang="es-ES" sz="1400" dirty="0" err="1"/>
                        <a:t>slab</a:t>
                      </a:r>
                      <a:r>
                        <a:rPr lang="es-ES" sz="1400" dirty="0"/>
                        <a:t> reduce un poco el impacto de la dispersión geométrica</a:t>
                      </a:r>
                    </a:p>
                  </a:txBody>
                  <a:tcPr/>
                </a:tc>
                <a:extLst>
                  <a:ext uri="{0D108BD9-81ED-4DB2-BD59-A6C34878D82A}">
                    <a16:rowId xmlns:a16="http://schemas.microsoft.com/office/drawing/2014/main" val="2801807417"/>
                  </a:ext>
                </a:extLst>
              </a:tr>
            </a:tbl>
          </a:graphicData>
        </a:graphic>
      </p:graphicFrame>
    </p:spTree>
    <p:extLst>
      <p:ext uri="{BB962C8B-B14F-4D97-AF65-F5344CB8AC3E}">
        <p14:creationId xmlns:p14="http://schemas.microsoft.com/office/powerpoint/2010/main" val="1352920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r>
              <a:rPr lang="en-US" b="0" dirty="0"/>
              <a:t>Find  neff_TE0 for </a:t>
            </a:r>
            <a:r>
              <a:rPr lang="en-US" b="0" dirty="0" err="1"/>
              <a:t>wvl</a:t>
            </a:r>
            <a:r>
              <a:rPr lang="en-US" b="0" dirty="0"/>
              <a:t> 1.55 µm, width 1.0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which is the safe radius, consider safe means less than 0.1 dB/90º.</a:t>
            </a:r>
          </a:p>
          <a:p>
            <a:pPr algn="just"/>
            <a:endParaRPr lang="en-US" sz="1200" u="sng"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09FBBBB-69CA-B7E5-7176-8227F2788CF5}"/>
                  </a:ext>
                </a:extLst>
              </p:cNvPr>
              <p:cNvSpPr txBox="1"/>
              <p:nvPr/>
            </p:nvSpPr>
            <p:spPr>
              <a:xfrm>
                <a:off x="9941529" y="4179383"/>
                <a:ext cx="1856534" cy="439608"/>
              </a:xfrm>
              <a:prstGeom prst="rect">
                <a:avLst/>
              </a:prstGeom>
              <a:noFill/>
            </p:spPr>
            <p:txBody>
              <a:bodyPr wrap="none" lIns="0" tIns="0" rIns="0" bIns="0" rtlCol="0">
                <a:spAutoFit/>
              </a:bodyPr>
              <a:lstStyle/>
              <a:p>
                <a14:m>
                  <m:oMath xmlns:m="http://schemas.openxmlformats.org/officeDocument/2006/math">
                    <m:r>
                      <a:rPr lang="es-ES" sz="1800" b="0" i="1" smtClean="0">
                        <a:latin typeface="Cambria Math" panose="02040503050406030204" pitchFamily="18" charset="0"/>
                      </a:rPr>
                      <m:t>𝛼</m:t>
                    </m:r>
                    <m:d>
                      <m:dPr>
                        <m:begChr m:val="["/>
                        <m:endChr m:val="]"/>
                        <m:ctrlPr>
                          <a:rPr lang="es-ES" sz="1800" b="0" i="1" smtClean="0">
                            <a:latin typeface="Cambria Math" panose="02040503050406030204" pitchFamily="18" charset="0"/>
                          </a:rPr>
                        </m:ctrlPr>
                      </m:dPr>
                      <m:e>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𝑑𝐵</m:t>
                            </m:r>
                          </m:num>
                          <m:den>
                            <m:r>
                              <a:rPr lang="es-ES" sz="1800" b="0" i="1" smtClean="0">
                                <a:latin typeface="Cambria Math" panose="02040503050406030204" pitchFamily="18" charset="0"/>
                              </a:rPr>
                              <m:t>90</m:t>
                            </m:r>
                            <m:r>
                              <a:rPr lang="es-ES" sz="1800" b="0" i="1" smtClean="0">
                                <a:latin typeface="Cambria Math" panose="02040503050406030204" pitchFamily="18" charset="0"/>
                                <a:ea typeface="Cambria Math" panose="02040503050406030204" pitchFamily="18" charset="0"/>
                              </a:rPr>
                              <m:t>°</m:t>
                            </m:r>
                          </m:den>
                        </m:f>
                      </m:e>
                    </m:d>
                    <m:r>
                      <a:rPr lang="es-ES" sz="1800" b="0" i="1" smtClean="0">
                        <a:latin typeface="Cambria Math" panose="02040503050406030204" pitchFamily="18" charset="0"/>
                      </a:rPr>
                      <m:t>=</m:t>
                    </m:r>
                  </m:oMath>
                </a14:m>
                <a:r>
                  <a:rPr lang="es-ES" sz="1800" dirty="0"/>
                  <a:t> </a:t>
                </a:r>
                <a14:m>
                  <m:oMath xmlns:m="http://schemas.openxmlformats.org/officeDocument/2006/math">
                    <m:r>
                      <m:rPr>
                        <m:sty m:val="p"/>
                      </m:rPr>
                      <a:rPr lang="es-ES" sz="1800" b="0" i="0" smtClean="0">
                        <a:latin typeface="Cambria Math" panose="02040503050406030204" pitchFamily="18" charset="0"/>
                      </a:rPr>
                      <m:t>R</m:t>
                    </m:r>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𝜋</m:t>
                        </m:r>
                      </m:num>
                      <m:den>
                        <m:r>
                          <a:rPr lang="es-ES" sz="1800" b="0" i="1" smtClean="0">
                            <a:latin typeface="Cambria Math" panose="02040503050406030204" pitchFamily="18" charset="0"/>
                          </a:rPr>
                          <m:t>2</m:t>
                        </m:r>
                      </m:den>
                    </m:f>
                    <m:r>
                      <a:rPr lang="es-ES" sz="1800" i="1">
                        <a:latin typeface="Cambria Math" panose="02040503050406030204" pitchFamily="18" charset="0"/>
                      </a:rPr>
                      <m:t>𝛼</m:t>
                    </m:r>
                    <m:d>
                      <m:dPr>
                        <m:begChr m:val="["/>
                        <m:endChr m:val="]"/>
                        <m:ctrlPr>
                          <a:rPr lang="es-ES" sz="1800" i="1">
                            <a:latin typeface="Cambria Math" panose="02040503050406030204" pitchFamily="18" charset="0"/>
                          </a:rPr>
                        </m:ctrlPr>
                      </m:dPr>
                      <m:e>
                        <m:f>
                          <m:fPr>
                            <m:ctrlPr>
                              <a:rPr lang="es-ES" sz="1800" i="1">
                                <a:latin typeface="Cambria Math" panose="02040503050406030204" pitchFamily="18" charset="0"/>
                              </a:rPr>
                            </m:ctrlPr>
                          </m:fPr>
                          <m:num>
                            <m:r>
                              <a:rPr lang="es-ES" sz="1800" i="1">
                                <a:latin typeface="Cambria Math" panose="02040503050406030204" pitchFamily="18" charset="0"/>
                              </a:rPr>
                              <m:t>𝑑𝐵</m:t>
                            </m:r>
                          </m:num>
                          <m:den>
                            <m:r>
                              <a:rPr lang="es-ES" sz="1800" i="1">
                                <a:latin typeface="Cambria Math" panose="02040503050406030204" pitchFamily="18" charset="0"/>
                              </a:rPr>
                              <m:t>µ</m:t>
                            </m:r>
                            <m:r>
                              <a:rPr lang="es-ES" sz="1800" i="1">
                                <a:latin typeface="Cambria Math" panose="02040503050406030204" pitchFamily="18" charset="0"/>
                              </a:rPr>
                              <m:t>𝑚</m:t>
                            </m:r>
                          </m:den>
                        </m:f>
                      </m:e>
                    </m:d>
                  </m:oMath>
                </a14:m>
                <a:endParaRPr lang="en-US" sz="1800" dirty="0"/>
              </a:p>
            </p:txBody>
          </p:sp>
        </mc:Choice>
        <mc:Fallback xmlns="">
          <p:sp>
            <p:nvSpPr>
              <p:cNvPr id="6" name="CuadroTexto 5">
                <a:extLst>
                  <a:ext uri="{FF2B5EF4-FFF2-40B4-BE49-F238E27FC236}">
                    <a16:creationId xmlns:a16="http://schemas.microsoft.com/office/drawing/2014/main" id="{409FBBBB-69CA-B7E5-7176-8227F2788CF5}"/>
                  </a:ext>
                </a:extLst>
              </p:cNvPr>
              <p:cNvSpPr txBox="1">
                <a:spLocks noRot="1" noChangeAspect="1" noMove="1" noResize="1" noEditPoints="1" noAdjustHandles="1" noChangeArrowheads="1" noChangeShapeType="1" noTextEdit="1"/>
              </p:cNvSpPr>
              <p:nvPr/>
            </p:nvSpPr>
            <p:spPr>
              <a:xfrm>
                <a:off x="9941529" y="4179383"/>
                <a:ext cx="1856534" cy="439608"/>
              </a:xfrm>
              <a:prstGeom prst="rect">
                <a:avLst/>
              </a:prstGeom>
              <a:blipFill>
                <a:blip r:embed="rId5"/>
                <a:stretch>
                  <a:fillRect l="-3289" b="-13889"/>
                </a:stretch>
              </a:blipFill>
            </p:spPr>
            <p:txBody>
              <a:bodyPr/>
              <a:lstStyle/>
              <a:p>
                <a:r>
                  <a:rPr lang="es-ES">
                    <a:noFill/>
                  </a:rPr>
                  <a:t> </a:t>
                </a:r>
              </a:p>
            </p:txBody>
          </p:sp>
        </mc:Fallback>
      </mc:AlternateContent>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dB/90º neff_TE0 &amp; neff_TM0 vs R</a:t>
            </a:r>
          </a:p>
        </p:txBody>
      </p:sp>
    </p:spTree>
    <p:extLst>
      <p:ext uri="{BB962C8B-B14F-4D97-AF65-F5344CB8AC3E}">
        <p14:creationId xmlns:p14="http://schemas.microsoft.com/office/powerpoint/2010/main" val="3660438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8</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996</TotalTime>
  <Words>756</Words>
  <Application>Microsoft Office PowerPoint</Application>
  <PresentationFormat>Panorámica</PresentationFormat>
  <Paragraphs>106</Paragraphs>
  <Slides>8</Slides>
  <Notes>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8</vt:i4>
      </vt:variant>
    </vt:vector>
  </HeadingPairs>
  <TitlesOfParts>
    <vt:vector size="16"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COMENTARIO LO3</vt:lpstr>
      <vt:lpstr>Learning outcome #4 – Bend waveguide radius vs. loss – deep Find  neff_TE0 for wvl 1.55 µm, width 1.0 µm for R=25,50,75,100, 125,150 µm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Maria Julve Benages</cp:lastModifiedBy>
  <cp:revision>10</cp:revision>
  <dcterms:created xsi:type="dcterms:W3CDTF">2025-01-27T02:46:57Z</dcterms:created>
  <dcterms:modified xsi:type="dcterms:W3CDTF">2026-02-16T16:44:40Z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